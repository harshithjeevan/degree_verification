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6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2743200" cy="2743200"/>
          </a:xfrm>
          <a:prstGeom prst="ellipse">
            <a:avLst/>
          </a:prstGeom>
          <a:solidFill>
            <a:srgbClr val="25307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5" name="Image 0" descr="/home/claude/deck/ic_shieldhalve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74706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Degree Certificate Verification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OCR-based verification of names, degree, and layout on scanned degree certificates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4709160"/>
            <a:ext cx="54864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68172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(CS 202) Course Project  •  IIT Gandhinagar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4" name="Image 0" descr="/home/claude/deck/ic_triangleexclamation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20" y="1528420"/>
            <a:ext cx="372161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417320"/>
            <a:ext cx="996696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certificates are verified manually today — a slow process prone to human error and difficult to scale for large institutes.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633472"/>
            <a:ext cx="502920" cy="50292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7" name="Image 1" descr="/home/claude/deck/ic_signature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20" y="2698852"/>
            <a:ext cx="372161" cy="372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587752"/>
            <a:ext cx="996696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can be tampered with: names altered, degree/branch changed, or fields subtly repositioned.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48640" y="3803904"/>
            <a:ext cx="502920" cy="50292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10" name="Image 2" descr="/home/claude/deck/ic_layergroup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3869284"/>
            <a:ext cx="372161" cy="3721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758184"/>
            <a:ext cx="996696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certificates follow a fixed institute template, so their layout, fonts, and field positions are predictable.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548640" y="4974336"/>
            <a:ext cx="502920" cy="50292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13" name="Image 3" descr="/home/claude/deck/ic_circlecheck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5039716"/>
            <a:ext cx="372161" cy="37216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4928616"/>
            <a:ext cx="996696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predictability lets us combine text extraction (OCR) with geometric layout checks for automated, trustworthy verification.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· CS 202 · IIT Gandhinagar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Description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automates verification of degree-certificate details against the official student record, built around a fixed IIT Gandhinagar certificate template.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42032" cy="3977640"/>
          </a:xfrm>
          <a:prstGeom prst="roundRect">
            <a:avLst>
              <a:gd name="adj" fmla="val 2878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1431036" y="23774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_languag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2077" y="247848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38328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Name Check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" y="40690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student names in both Hindi and English against the roster, tolerant of small OCR noise.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46704" y="1965960"/>
            <a:ext cx="2542032" cy="3977640"/>
          </a:xfrm>
          <a:prstGeom prst="roundRect">
            <a:avLst>
              <a:gd name="adj" fmla="val 2878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4229100" y="23774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_graduationca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141" y="2478481"/>
            <a:ext cx="575158" cy="5751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1296" y="338328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Degree &amp; Branch Check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6160" y="40690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degree and branch (course) fields against a fixed, known vocabulary of valid programs.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44768" y="1965960"/>
            <a:ext cx="2542032" cy="3977640"/>
          </a:xfrm>
          <a:prstGeom prst="roundRect">
            <a:avLst>
              <a:gd name="adj" fmla="val 2878"/>
            </a:avLst>
          </a:prstGeom>
          <a:solidFill>
            <a:srgbClr val="F4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027164" y="23774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deck/ic_rulercombine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205" y="2478481"/>
            <a:ext cx="575158" cy="5751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338328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Verification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64224" y="40690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line position and indentation using pixel coordinates against a reference template.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42832" y="1965960"/>
            <a:ext cx="2542032" cy="3977640"/>
          </a:xfrm>
          <a:prstGeom prst="roundRect">
            <a:avLst>
              <a:gd name="adj" fmla="val 2878"/>
            </a:avLst>
          </a:prstGeom>
          <a:solidFill>
            <a:srgbClr val="F4F6FC"/>
          </a:solidFill>
          <a:ln/>
        </p:spPr>
      </p:sp>
      <p:sp>
        <p:nvSpPr>
          <p:cNvPr id="20" name="Shape 15"/>
          <p:cNvSpPr/>
          <p:nvPr/>
        </p:nvSpPr>
        <p:spPr>
          <a:xfrm>
            <a:off x="9825228" y="23774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deck/ic_gea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269" y="2478481"/>
            <a:ext cx="575158" cy="5751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7424" y="338328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Generation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162288" y="40690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 goal: generate certificates directly from the verified template and student data.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· CS 202 · IIT Gandhinagar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certificate moves through a fixed sequence of checks before a decision is made.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48740" y="3246120"/>
            <a:ext cx="9464040" cy="0"/>
          </a:xfrm>
          <a:prstGeom prst="line">
            <a:avLst/>
          </a:prstGeom>
          <a:noFill/>
          <a:ln w="25400">
            <a:solidFill>
              <a:srgbClr val="3B469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2331720"/>
            <a:ext cx="1600200" cy="1828800"/>
          </a:xfrm>
          <a:prstGeom prst="roundRect">
            <a:avLst>
              <a:gd name="adj" fmla="val 5143"/>
            </a:avLst>
          </a:prstGeom>
          <a:solidFill>
            <a:srgbClr val="242E70"/>
          </a:solidFill>
          <a:ln w="12700">
            <a:solidFill>
              <a:srgbClr val="3B46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4420" y="258775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/home/claude/deck/ic_filelines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743" y="2659075"/>
            <a:ext cx="405994" cy="4059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8541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3264408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1792" y="3630168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PDF/Image → align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41448" y="2331720"/>
            <a:ext cx="1600200" cy="1828800"/>
          </a:xfrm>
          <a:prstGeom prst="roundRect">
            <a:avLst>
              <a:gd name="adj" fmla="val 5143"/>
            </a:avLst>
          </a:prstGeom>
          <a:solidFill>
            <a:srgbClr val="242E70"/>
          </a:solidFill>
          <a:ln w="12700">
            <a:solidFill>
              <a:srgbClr val="3B469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67228" y="258775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/home/claude/deck/ic_boxes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551" y="2659075"/>
            <a:ext cx="405994" cy="4059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218541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514600" y="3264408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Fields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514600" y="3630168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regions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334256" y="2331720"/>
            <a:ext cx="1600200" cy="1828800"/>
          </a:xfrm>
          <a:prstGeom prst="roundRect">
            <a:avLst>
              <a:gd name="adj" fmla="val 5143"/>
            </a:avLst>
          </a:prstGeom>
          <a:solidFill>
            <a:srgbClr val="242E70"/>
          </a:solidFill>
          <a:ln w="12700">
            <a:solidFill>
              <a:srgbClr val="3B469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60036" y="258775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9" name="Image 2" descr="/home/claude/deck/ic_font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359" y="2659075"/>
            <a:ext cx="405994" cy="40599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77256" y="218541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407408" y="3264408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407408" y="3630168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per field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227064" y="2331720"/>
            <a:ext cx="1600200" cy="1828800"/>
          </a:xfrm>
          <a:prstGeom prst="roundRect">
            <a:avLst>
              <a:gd name="adj" fmla="val 5143"/>
            </a:avLst>
          </a:prstGeom>
          <a:solidFill>
            <a:srgbClr val="242E70"/>
          </a:solidFill>
          <a:ln w="12700">
            <a:solidFill>
              <a:srgbClr val="3B469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752844" y="258775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5" name="Image 3" descr="/home/claude/deck/ic_database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167" y="2659075"/>
            <a:ext cx="405994" cy="40599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0064" y="218541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300216" y="3264408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Lookup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6300216" y="3630168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 key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8119872" y="2331720"/>
            <a:ext cx="1600200" cy="1828800"/>
          </a:xfrm>
          <a:prstGeom prst="roundRect">
            <a:avLst>
              <a:gd name="adj" fmla="val 5143"/>
            </a:avLst>
          </a:prstGeom>
          <a:solidFill>
            <a:srgbClr val="242E70"/>
          </a:solidFill>
          <a:ln w="12700">
            <a:solidFill>
              <a:srgbClr val="3B4694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645652" y="258775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1" name="Image 4" descr="/home/claude/deck/ic_magnifyingglass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6975" y="2659075"/>
            <a:ext cx="405994" cy="40599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262872" y="218541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8193024" y="3264408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8193024" y="3630168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layout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10012680" y="2331720"/>
            <a:ext cx="1600200" cy="1828800"/>
          </a:xfrm>
          <a:prstGeom prst="roundRect">
            <a:avLst>
              <a:gd name="adj" fmla="val 5143"/>
            </a:avLst>
          </a:prstGeom>
          <a:solidFill>
            <a:srgbClr val="242E70"/>
          </a:solidFill>
          <a:ln w="12700">
            <a:solidFill>
              <a:srgbClr val="3B4694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0538460" y="258775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7" name="Image 5" descr="/home/claude/deck/ic_chartline_1E276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9783" y="2659075"/>
            <a:ext cx="405994" cy="40599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1155680" y="218541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10085832" y="3264408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Route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0085832" y="3630168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/ review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text is checked by fixed pixel coordinates; dynamic (student) text is checked by line center, width, and baseline.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Techniques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fields need different comparison strategies — one method does not fit all.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_list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41" y="213110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116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Match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3042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/ Date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7432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identifiers must match character-for-character — no tolerance, since a small change means a different student.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182880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0" y="20574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/home/claude/deck/ic_fon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621" y="2131101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0116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Fuzzy Match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949440" y="23042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/ Hindi Name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217920" y="27432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similarity scoring (RapidFuzz) to tolerate minor OCR noise while still flagging genuine mismatches.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160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deck/ic_boxe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1" y="4234221"/>
            <a:ext cx="419527" cy="4195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1148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 Match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508760" y="44074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/ Branch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77240" y="484632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output is matched against a small, fixed list of valid degree and branch names.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989320" y="393192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/>
        </p:spPr>
      </p:sp>
      <p:sp>
        <p:nvSpPr>
          <p:cNvPr id="23" name="Shape 18"/>
          <p:cNvSpPr/>
          <p:nvPr/>
        </p:nvSpPr>
        <p:spPr>
          <a:xfrm>
            <a:off x="6217920" y="416052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3" descr="/home/claude/deck/ic_rulercombine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621" y="4234221"/>
            <a:ext cx="419527" cy="41952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49440" y="41148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 Check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949440" y="44074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/ Indentation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217920" y="484632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pixel-level position, center, and width of each text line against the reference template.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· CS 202 · IIT Gandhinagar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Scoring &amp; Routing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produces its own score; a high overall score must never hide a critical mismatch.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81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Field Confidence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2020824"/>
            <a:ext cx="2834640" cy="219456"/>
          </a:xfrm>
          <a:prstGeom prst="roundRect">
            <a:avLst>
              <a:gd name="adj" fmla="val 16667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2020824"/>
            <a:ext cx="2834640" cy="21945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166360" y="1965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5328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Name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2587752"/>
            <a:ext cx="2834640" cy="219456"/>
          </a:xfrm>
          <a:prstGeom prst="roundRect">
            <a:avLst>
              <a:gd name="adj" fmla="val 16667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2587752"/>
            <a:ext cx="2777947" cy="21945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25328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0998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Name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3154680"/>
            <a:ext cx="2834640" cy="219456"/>
          </a:xfrm>
          <a:prstGeom prst="roundRect">
            <a:avLst>
              <a:gd name="adj" fmla="val 16667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3154680"/>
            <a:ext cx="2664562" cy="219456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309981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6667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3721608"/>
            <a:ext cx="2834640" cy="219456"/>
          </a:xfrm>
          <a:prstGeom prst="roundRect">
            <a:avLst>
              <a:gd name="adj" fmla="val 16667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0" y="3721608"/>
            <a:ext cx="2834640" cy="21945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366674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2336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0" y="4288536"/>
            <a:ext cx="2834640" cy="219456"/>
          </a:xfrm>
          <a:prstGeom prst="roundRect">
            <a:avLst>
              <a:gd name="adj" fmla="val 16667"/>
            </a:avLst>
          </a:prstGeom>
          <a:solidFill>
            <a:srgbClr val="F4F6FC"/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0" y="4288536"/>
            <a:ext cx="2834640" cy="21945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42336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19659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21945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7" name="Image 0" descr="/home/claude/deck/ic_circlecheck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2123" y="2265883"/>
            <a:ext cx="405994" cy="40599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132320" y="212140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Auto-Verify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132320" y="245059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match with high confidence and no critical mismatch — certificate is verified automatically.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172200" y="35661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31" name="Shape 28"/>
          <p:cNvSpPr/>
          <p:nvPr/>
        </p:nvSpPr>
        <p:spPr>
          <a:xfrm>
            <a:off x="6400800" y="37947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2" name="Image 1" descr="/home/claude/deck/ic_triangleexclamation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123" y="3866083"/>
            <a:ext cx="405994" cy="405994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132320" y="372160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Review Queue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7132320" y="405079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critical mismatch (e.g. roll number, degree) or layout anomaly is routed to a human, with the flagged region highlighted.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77240" y="52578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Roll number MATCHES but Degree shows M.Tech instead of B.Tech → flagged for review, regardless of overall score.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· CS 202 · IIT Gandhinagar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Future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28700" y="1691640"/>
            <a:ext cx="822960" cy="82296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5" name="Image 0" descr="/home/claude/deck/ic_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179862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06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811780" y="1691640"/>
            <a:ext cx="822960" cy="82296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1" descr="/home/claude/deck/ic_imag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765" y="1798625"/>
            <a:ext cx="608990" cy="6089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31720" y="2606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594860" y="1691640"/>
            <a:ext cx="822960" cy="82296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1" name="Image 2" descr="/home/claude/deck/ic_fon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845" y="1798625"/>
            <a:ext cx="608990" cy="6089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14800" y="2606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77940" y="1691640"/>
            <a:ext cx="822960" cy="82296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4" name="Image 3" descr="/home/claude/deck/ic_magnifyingglas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925" y="1798625"/>
            <a:ext cx="608990" cy="60899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97880" y="2606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8161020" y="1691640"/>
            <a:ext cx="822960" cy="82296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7" name="Image 4" descr="/home/claude/deck/ic_databas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005" y="1798625"/>
            <a:ext cx="608990" cy="60899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680960" y="2606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9944100" y="1691640"/>
            <a:ext cx="822960" cy="82296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20" name="Image 5" descr="/home/claude/deck/ic_gear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1085" y="1798625"/>
            <a:ext cx="608990" cy="60899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464040" y="2606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548640" y="3246120"/>
            <a:ext cx="1106424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54864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25" name="Image 6" descr="/home/claude/deck/ic_shieldhalved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020" y="3951580"/>
            <a:ext cx="372161" cy="372161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48640" y="448056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Watermark, seal &amp; signature verification using image similarity (SSIM).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4251960" y="3886200"/>
            <a:ext cx="502920" cy="50292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28" name="Image 7" descr="/home/claude/deck/ic_gears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340" y="3951580"/>
            <a:ext cx="372161" cy="372161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251960" y="448056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certificate generation directly from the verified template.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7955280" y="3886200"/>
            <a:ext cx="502920" cy="50292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31" name="Image 8" descr="/home/claude/deck/ic_users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0660" y="3951580"/>
            <a:ext cx="372161" cy="372161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955280" y="448056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audit logging for the staff review workflow.</a:t>
            </a:r>
            <a:endParaRPr lang="en-US" sz="1200" dirty="0"/>
          </a:p>
        </p:txBody>
      </p:sp>
      <p:sp>
        <p:nvSpPr>
          <p:cNvPr id="33" name="Shape 22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242E70"/>
          </a:solidFill>
          <a:ln/>
        </p:spPr>
      </p:sp>
      <p:sp>
        <p:nvSpPr>
          <p:cNvPr id="34" name="Text 23"/>
          <p:cNvSpPr/>
          <p:nvPr/>
        </p:nvSpPr>
        <p:spPr>
          <a:xfrm>
            <a:off x="777240" y="58064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stays in the loop for uncertain cases — the system assists staff, it does not replace them.</a:t>
            </a:r>
            <a:endParaRPr lang="en-US" sz="1250" dirty="0"/>
          </a:p>
        </p:txBody>
      </p:sp>
      <p:sp>
        <p:nvSpPr>
          <p:cNvPr id="35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2026-09-04T17:01:38Z</dcterms:created>
  <dcterms:modified xsi:type="dcterms:W3CDTF">2026-09-04T17:01:38Z</dcterms:modified>
</cp:coreProperties>
</file>